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9" r:id="rId1"/>
  </p:sldMasterIdLst>
  <p:notesMasterIdLst>
    <p:notesMasterId r:id="rId23"/>
  </p:notesMasterIdLst>
  <p:handoutMasterIdLst>
    <p:handoutMasterId r:id="rId24"/>
  </p:handoutMasterIdLst>
  <p:sldIdLst>
    <p:sldId id="268" r:id="rId2"/>
    <p:sldId id="383" r:id="rId3"/>
    <p:sldId id="391" r:id="rId4"/>
    <p:sldId id="424" r:id="rId5"/>
    <p:sldId id="422" r:id="rId6"/>
    <p:sldId id="423" r:id="rId7"/>
    <p:sldId id="421" r:id="rId8"/>
    <p:sldId id="419" r:id="rId9"/>
    <p:sldId id="394" r:id="rId10"/>
    <p:sldId id="396" r:id="rId11"/>
    <p:sldId id="397" r:id="rId12"/>
    <p:sldId id="398" r:id="rId13"/>
    <p:sldId id="435" r:id="rId14"/>
    <p:sldId id="384" r:id="rId15"/>
    <p:sldId id="432" r:id="rId16"/>
    <p:sldId id="386" r:id="rId17"/>
    <p:sldId id="427" r:id="rId18"/>
    <p:sldId id="438" r:id="rId19"/>
    <p:sldId id="440" r:id="rId20"/>
    <p:sldId id="441" r:id="rId21"/>
    <p:sldId id="439" r:id="rId22"/>
  </p:sldIdLst>
  <p:sldSz cx="9144000" cy="6858000" type="screen4x3"/>
  <p:notesSz cx="6845300" cy="93964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9">
          <p15:clr>
            <a:srgbClr val="A4A3A4"/>
          </p15:clr>
        </p15:guide>
        <p15:guide id="2" pos="215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A4001D"/>
    <a:srgbClr val="A40508"/>
    <a:srgbClr val="A50021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408" autoAdjust="0"/>
    <p:restoredTop sz="86884" autoAdjust="0"/>
  </p:normalViewPr>
  <p:slideViewPr>
    <p:cSldViewPr>
      <p:cViewPr varScale="1">
        <p:scale>
          <a:sx n="93" d="100"/>
          <a:sy n="93" d="100"/>
        </p:scale>
        <p:origin x="1408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-2224" y="-112"/>
      </p:cViewPr>
      <p:guideLst>
        <p:guide orient="horz" pos="2959"/>
        <p:guide pos="215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fld id="{8A029216-D615-3945-A1F3-D96FC886DA6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7263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73150" y="704850"/>
            <a:ext cx="4699000" cy="35242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208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464050"/>
            <a:ext cx="5019675" cy="422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08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8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EB9031F-EB71-7642-8F3C-6FDC1408CB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2732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1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3150" y="704850"/>
            <a:ext cx="4699000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3150" y="704850"/>
            <a:ext cx="4699000" cy="35242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9031F-EB71-7642-8F3C-6FDC1408CB9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220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3150" y="704850"/>
            <a:ext cx="4699000" cy="35242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9031F-EB71-7642-8F3C-6FDC1408CB9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2203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3150" y="704850"/>
            <a:ext cx="4699000" cy="35242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9031F-EB71-7642-8F3C-6FDC1408CB9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2203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9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3150" y="704850"/>
            <a:ext cx="4699000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10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3150" y="704850"/>
            <a:ext cx="4699000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17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3150" y="704850"/>
            <a:ext cx="4699000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18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3150" y="704850"/>
            <a:ext cx="4699000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21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3150" y="704850"/>
            <a:ext cx="4699000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0" y="681037"/>
            <a:ext cx="3890964" cy="1731963"/>
          </a:xfrm>
        </p:spPr>
        <p:txBody>
          <a:bodyPr/>
          <a:lstStyle>
            <a:lvl1pPr algn="ctr">
              <a:defRPr sz="4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0" y="3835400"/>
            <a:ext cx="3886200" cy="2235200"/>
          </a:xfrm>
        </p:spPr>
        <p:txBody>
          <a:bodyPr/>
          <a:lstStyle>
            <a:lvl1pPr marL="0" indent="0" algn="ctr">
              <a:spcBef>
                <a:spcPts val="900"/>
              </a:spcBef>
              <a:buFont typeface="Times" pitchFamily="-65" charset="0"/>
              <a:buNone/>
              <a:defRPr sz="3600">
                <a:solidFill>
                  <a:srgbClr val="A50021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7239000" y="6273800"/>
            <a:ext cx="1219200" cy="4572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334000" y="6273800"/>
            <a:ext cx="1905000" cy="4572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pic>
        <p:nvPicPr>
          <p:cNvPr id="9" name="Picture 8" descr="wordcloud2.jpg"/>
          <p:cNvPicPr>
            <a:picLocks noChangeAspect="1"/>
          </p:cNvPicPr>
          <p:nvPr userDrawn="1"/>
        </p:nvPicPr>
        <p:blipFill rotWithShape="1">
          <a:blip r:embed="rId2"/>
          <a:srcRect l="19740" t="8415" r="20308" b="8153"/>
          <a:stretch/>
        </p:blipFill>
        <p:spPr>
          <a:xfrm>
            <a:off x="260136" y="304800"/>
            <a:ext cx="3473664" cy="6255910"/>
          </a:xfrm>
          <a:prstGeom prst="rect">
            <a:avLst/>
          </a:prstGeom>
        </p:spPr>
      </p:pic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572000" y="6273800"/>
            <a:ext cx="765174" cy="4572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74C7FEE-6B48-4643-BCFB-F13B0E13E171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211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803400"/>
            <a:ext cx="8534400" cy="444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858000" y="6273800"/>
            <a:ext cx="19812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048000" y="6273800"/>
            <a:ext cx="28956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F35DC5-7E65-8247-99AB-4E984F8A921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 userDrawn="1"/>
        </p:nvSpPr>
        <p:spPr bwMode="auto">
          <a:xfrm rot="5400000">
            <a:off x="-3406143" y="3406142"/>
            <a:ext cx="68580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6176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2BDC8F-D922-0A4E-AAA0-9C7D97FF3D7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73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752600"/>
            <a:ext cx="3810000" cy="4495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752600"/>
            <a:ext cx="3810000" cy="4495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096000" y="6273800"/>
            <a:ext cx="19812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667000" y="6248400"/>
            <a:ext cx="28956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C7A63A-31A1-2C4C-95AA-A445DBCAB174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5400000">
            <a:off x="-3406143" y="3406142"/>
            <a:ext cx="68580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913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671637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2311400"/>
            <a:ext cx="4040188" cy="3962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2627" y="1671637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2627" y="2311400"/>
            <a:ext cx="4041775" cy="3962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248400" y="6273800"/>
            <a:ext cx="19812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273800"/>
            <a:ext cx="28956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1C68C3-6089-F349-9232-42643877B0C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Rectangle 2"/>
          <p:cNvSpPr>
            <a:spLocks noChangeArrowheads="1"/>
          </p:cNvSpPr>
          <p:nvPr userDrawn="1"/>
        </p:nvSpPr>
        <p:spPr bwMode="auto">
          <a:xfrm rot="5400000">
            <a:off x="-3406143" y="3406142"/>
            <a:ext cx="68580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371600" y="304800"/>
            <a:ext cx="7467600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275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BC7101-16EA-C942-850C-355264FDE9E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 userDrawn="1"/>
        </p:nvSpPr>
        <p:spPr bwMode="auto">
          <a:xfrm rot="5400000">
            <a:off x="-3406143" y="3406142"/>
            <a:ext cx="68580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628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28E5E2-1321-4548-96C8-615581C5A8C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278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905000"/>
            <a:ext cx="3008313" cy="1162051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3124201"/>
            <a:ext cx="3008313" cy="300196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729988-E849-C549-AA67-252EA40F09C2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 userDrawn="1"/>
        </p:nvSpPr>
        <p:spPr bwMode="auto">
          <a:xfrm rot="5400000">
            <a:off x="-3406143" y="3406142"/>
            <a:ext cx="68580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3127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7882B1-C6D6-A945-BB8B-B7B1B12471B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046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DFA8D9-15F1-AF4D-8149-0C26EB27AC9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983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29450" y="381000"/>
            <a:ext cx="211455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81000"/>
            <a:ext cx="619125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57BED9-9427-674C-8047-314E304C86F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081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752601"/>
            <a:ext cx="7772400" cy="2171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4076701"/>
            <a:ext cx="7772400" cy="2171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43D734-B240-FB4D-AF6E-6869FD66910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5400000">
            <a:off x="-3406143" y="3406142"/>
            <a:ext cx="68580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371600" y="304800"/>
            <a:ext cx="7467600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300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Narrow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803400"/>
            <a:ext cx="8534400" cy="444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858000" y="6274316"/>
            <a:ext cx="19812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286000" y="6273800"/>
            <a:ext cx="45720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F35DC5-7E65-8247-99AB-4E984F8A921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 userDrawn="1"/>
        </p:nvSpPr>
        <p:spPr bwMode="auto">
          <a:xfrm rot="5400000">
            <a:off x="-3406143" y="3406142"/>
            <a:ext cx="68580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7706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omplete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680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447800" y="304800"/>
            <a:ext cx="7391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752600"/>
            <a:ext cx="8534400" cy="444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480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0" y="6261358"/>
            <a:ext cx="198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480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43200" y="6261358"/>
            <a:ext cx="3886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480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" y="6273800"/>
            <a:ext cx="198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latin typeface="+mn-lt"/>
              </a:defRPr>
            </a:lvl1pPr>
          </a:lstStyle>
          <a:p>
            <a:fld id="{91F816EA-24CC-2048-859A-C5EA9F27539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5195" y="304800"/>
            <a:ext cx="1059656" cy="1066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7323" y="11667"/>
            <a:ext cx="1295400" cy="2616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100" dirty="0">
                <a:solidFill>
                  <a:srgbClr val="A4001D"/>
                </a:solidFill>
                <a:latin typeface="+mn-lt"/>
              </a:rPr>
              <a:t>Dan Jurafsky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1" r:id="rId13"/>
    <p:sldLayoutId id="2147483712" r:id="rId1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ＭＳ Ｐゴシック" pitchFamily="-65" charset="-128"/>
          <a:cs typeface="ＭＳ Ｐゴシック" pitchFamily="-65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charset="0"/>
        <a:buChar char="•"/>
        <a:defRPr sz="2400">
          <a:solidFill>
            <a:schemeClr val="tx1"/>
          </a:solidFill>
          <a:latin typeface="+mn-lt"/>
          <a:ea typeface="ＭＳ Ｐゴシック" pitchFamily="-65" charset="-128"/>
          <a:cs typeface="ＭＳ Ｐゴシック" pitchFamily="-65" charset="-128"/>
        </a:defRPr>
      </a:lvl1pPr>
      <a:lvl2pPr marL="685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Times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2pPr>
      <a:lvl3pPr marL="10287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3pPr>
      <a:lvl4pPr marL="1371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Times" charset="0"/>
        <a:buChar char="•"/>
        <a:defRPr>
          <a:solidFill>
            <a:schemeClr val="tx1"/>
          </a:solidFill>
          <a:latin typeface="+mn-lt"/>
          <a:ea typeface="ＭＳ Ｐゴシック" pitchFamily="-65" charset="-128"/>
        </a:defRPr>
      </a:lvl4pPr>
      <a:lvl5pPr marL="17145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charset="0"/>
        <a:buChar char="•"/>
        <a:defRPr>
          <a:solidFill>
            <a:schemeClr val="tx1"/>
          </a:solidFill>
          <a:latin typeface="+mn-lt"/>
          <a:ea typeface="ＭＳ Ｐゴシック" pitchFamily="-65" charset="-128"/>
        </a:defRPr>
      </a:lvl5pPr>
      <a:lvl6pPr marL="21717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6pPr>
      <a:lvl7pPr marL="26289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7pPr>
      <a:lvl8pPr marL="30861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8pPr>
      <a:lvl9pPr marL="35433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7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9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1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ctrTitle"/>
          </p:nvPr>
        </p:nvSpPr>
        <p:spPr>
          <a:xfrm>
            <a:off x="4572000" y="584200"/>
            <a:ext cx="3890964" cy="1828800"/>
          </a:xfrm>
        </p:spPr>
        <p:txBody>
          <a:bodyPr/>
          <a:lstStyle/>
          <a:p>
            <a:r>
              <a:rPr lang="en-US" dirty="0">
                <a:latin typeface="Calibri (Headings)"/>
                <a:cs typeface="Calibri (Headings)"/>
              </a:rPr>
              <a:t>Question Answering</a:t>
            </a:r>
            <a:endParaRPr lang="en-US" dirty="0">
              <a:latin typeface="Lucida San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4343400" y="3505200"/>
            <a:ext cx="4495800" cy="2235200"/>
          </a:xfrm>
        </p:spPr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4000" dirty="0">
                <a:latin typeface="Calibri (Headings)"/>
                <a:ea typeface="ＭＳ Ｐゴシック" charset="0"/>
                <a:cs typeface="Calibri (Headings)"/>
              </a:rPr>
              <a:t>Summarization in Question Answering</a:t>
            </a:r>
          </a:p>
          <a:p>
            <a:pPr eaLnBrk="1" hangingPunct="1">
              <a:buFont typeface="Times" charset="0"/>
              <a:buNone/>
            </a:pPr>
            <a:endParaRPr lang="en-US" sz="4000" dirty="0">
              <a:latin typeface="Calibri (Headings)"/>
              <a:ea typeface="ＭＳ Ｐゴシック" charset="0"/>
              <a:cs typeface="Calibri (Headings)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8733" y="152400"/>
            <a:ext cx="7391400" cy="990600"/>
          </a:xfrm>
        </p:spPr>
        <p:txBody>
          <a:bodyPr/>
          <a:lstStyle/>
          <a:p>
            <a:r>
              <a:rPr lang="en-US" dirty="0"/>
              <a:t>Text Summarization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27200"/>
            <a:ext cx="8458200" cy="4597400"/>
          </a:xfrm>
        </p:spPr>
        <p:txBody>
          <a:bodyPr/>
          <a:lstStyle/>
          <a:p>
            <a:r>
              <a:rPr lang="en-US" b="1" dirty="0"/>
              <a:t>Goal</a:t>
            </a:r>
            <a:r>
              <a:rPr lang="en-US" dirty="0"/>
              <a:t>: produce an abridged version of a text that contains information that is important or relevant to a user.</a:t>
            </a:r>
          </a:p>
          <a:p>
            <a:pPr marL="0" indent="0">
              <a:buNone/>
            </a:pPr>
            <a:r>
              <a:rPr lang="en-US" dirty="0"/>
              <a:t>				</a:t>
            </a:r>
            <a:endParaRPr lang="en-US" b="1" dirty="0"/>
          </a:p>
          <a:p>
            <a:r>
              <a:rPr lang="en-US" sz="2800" b="1" dirty="0"/>
              <a:t>Summarization Applications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</a:rPr>
              <a:t>outlines or abstracts </a:t>
            </a:r>
            <a:r>
              <a:rPr lang="en-US" sz="2400" dirty="0"/>
              <a:t>of any document, article, </a:t>
            </a:r>
            <a:r>
              <a:rPr lang="en-US" sz="2400" dirty="0" err="1"/>
              <a:t>etc</a:t>
            </a:r>
            <a:endParaRPr lang="en-US" sz="2400" dirty="0"/>
          </a:p>
          <a:p>
            <a:pPr lvl="1"/>
            <a:r>
              <a:rPr lang="en-US" sz="2400" b="1" dirty="0">
                <a:solidFill>
                  <a:srgbClr val="0000FF"/>
                </a:solidFill>
              </a:rPr>
              <a:t>summaries</a:t>
            </a:r>
            <a:r>
              <a:rPr lang="en-US" sz="2400" b="1" dirty="0"/>
              <a:t> </a:t>
            </a:r>
            <a:r>
              <a:rPr lang="en-US" sz="2400" dirty="0"/>
              <a:t>of email threads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</a:rPr>
              <a:t>action items </a:t>
            </a:r>
            <a:r>
              <a:rPr lang="en-US" sz="2400" dirty="0"/>
              <a:t>from a meeting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</a:rPr>
              <a:t>simplifying</a:t>
            </a:r>
            <a:r>
              <a:rPr lang="en-US" sz="2400" dirty="0"/>
              <a:t> text by compressing sentences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090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summarize? </a:t>
            </a:r>
            <a:br>
              <a:rPr lang="en-US" dirty="0"/>
            </a:br>
            <a:r>
              <a:rPr lang="en-US" dirty="0"/>
              <a:t>Single vs. multiple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0000FF"/>
                </a:solidFill>
              </a:rPr>
              <a:t>Single-document summarization</a:t>
            </a:r>
          </a:p>
          <a:p>
            <a:pPr lvl="1"/>
            <a:r>
              <a:rPr lang="en-US" sz="2400" dirty="0"/>
              <a:t>Given a single document, produce</a:t>
            </a:r>
          </a:p>
          <a:p>
            <a:pPr lvl="2"/>
            <a:r>
              <a:rPr lang="en-US" sz="2400" dirty="0"/>
              <a:t>abstract</a:t>
            </a:r>
          </a:p>
          <a:p>
            <a:pPr lvl="2"/>
            <a:r>
              <a:rPr lang="en-US" sz="2400" dirty="0"/>
              <a:t>outline</a:t>
            </a:r>
          </a:p>
          <a:p>
            <a:pPr lvl="2"/>
            <a:r>
              <a:rPr lang="en-US" sz="2400" dirty="0"/>
              <a:t>headline</a:t>
            </a:r>
          </a:p>
          <a:p>
            <a:r>
              <a:rPr lang="en-US" sz="2800" dirty="0">
                <a:solidFill>
                  <a:srgbClr val="0000FF"/>
                </a:solidFill>
              </a:rPr>
              <a:t>M</a:t>
            </a:r>
            <a:r>
              <a:rPr lang="en-US" sz="2800" b="1" dirty="0">
                <a:solidFill>
                  <a:srgbClr val="0000FF"/>
                </a:solidFill>
              </a:rPr>
              <a:t>ultiple-document summarization</a:t>
            </a:r>
            <a:endParaRPr lang="en-US" sz="2800" dirty="0">
              <a:solidFill>
                <a:srgbClr val="0000FF"/>
              </a:solidFill>
            </a:endParaRPr>
          </a:p>
          <a:p>
            <a:pPr lvl="1"/>
            <a:r>
              <a:rPr lang="en-US" sz="2400" dirty="0"/>
              <a:t>Given a group of documents, produce a gist of the content:</a:t>
            </a:r>
          </a:p>
          <a:p>
            <a:pPr lvl="2"/>
            <a:r>
              <a:rPr lang="en-US" sz="2400" dirty="0"/>
              <a:t>a series of news stories on the same event</a:t>
            </a:r>
          </a:p>
          <a:p>
            <a:pPr lvl="2"/>
            <a:r>
              <a:rPr lang="en-US" sz="2400" dirty="0"/>
              <a:t>a set of web pages about some topic or question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46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Query-focused Summarization</a:t>
            </a:r>
            <a:br>
              <a:rPr lang="en-US" sz="3600" dirty="0"/>
            </a:br>
            <a:r>
              <a:rPr lang="en-US" sz="3600" dirty="0"/>
              <a:t>&amp;  Generic Summarization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0000FF"/>
                </a:solidFill>
              </a:rPr>
              <a:t>Generic summarization:</a:t>
            </a:r>
          </a:p>
          <a:p>
            <a:pPr lvl="1"/>
            <a:r>
              <a:rPr lang="en-US" sz="2800" dirty="0"/>
              <a:t> Summarize the content of a document</a:t>
            </a:r>
          </a:p>
          <a:p>
            <a:r>
              <a:rPr lang="en-US" sz="3200" dirty="0">
                <a:solidFill>
                  <a:srgbClr val="0000FF"/>
                </a:solidFill>
              </a:rPr>
              <a:t>Query-focused summarization:</a:t>
            </a:r>
          </a:p>
          <a:p>
            <a:pPr lvl="1"/>
            <a:r>
              <a:rPr lang="en-US" sz="2800" dirty="0"/>
              <a:t> summarize a document with respect to an information need expressed in a user query.</a:t>
            </a:r>
          </a:p>
          <a:p>
            <a:pPr lvl="1"/>
            <a:r>
              <a:rPr lang="en-US" sz="2800" dirty="0"/>
              <a:t>a kind of complex question answering:</a:t>
            </a:r>
          </a:p>
          <a:p>
            <a:pPr lvl="2"/>
            <a:r>
              <a:rPr lang="en-US" sz="2800" dirty="0"/>
              <a:t>Answer a question by summarizing a document that has the information to construct the answer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205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8733" y="152400"/>
            <a:ext cx="7391400" cy="990600"/>
          </a:xfrm>
        </p:spPr>
        <p:txBody>
          <a:bodyPr/>
          <a:lstStyle/>
          <a:p>
            <a:r>
              <a:rPr lang="en-US" dirty="0"/>
              <a:t>Summarization for Question Answering: Snippets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98600"/>
            <a:ext cx="8839200" cy="5054600"/>
          </a:xfrm>
        </p:spPr>
        <p:txBody>
          <a:bodyPr/>
          <a:lstStyle/>
          <a:p>
            <a:r>
              <a:rPr lang="en-US" sz="2800" b="1" dirty="0"/>
              <a:t>Create</a:t>
            </a:r>
            <a:r>
              <a:rPr lang="en-US" sz="2800" b="1" dirty="0">
                <a:solidFill>
                  <a:srgbClr val="0000FF"/>
                </a:solidFill>
              </a:rPr>
              <a:t> snippets</a:t>
            </a:r>
            <a:r>
              <a:rPr lang="en-US" sz="2800" b="1" dirty="0"/>
              <a:t> </a:t>
            </a:r>
            <a:r>
              <a:rPr lang="en-US" sz="2800" dirty="0"/>
              <a:t>summarizing a web page for a query</a:t>
            </a:r>
          </a:p>
          <a:p>
            <a:pPr lvl="1"/>
            <a:r>
              <a:rPr lang="en-US" dirty="0"/>
              <a:t>Google: 156 characters (about 26 words) plus title and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211" y="2590800"/>
            <a:ext cx="6529683" cy="408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671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8733" y="152400"/>
            <a:ext cx="7391400" cy="990600"/>
          </a:xfrm>
        </p:spPr>
        <p:txBody>
          <a:bodyPr/>
          <a:lstStyle/>
          <a:p>
            <a:r>
              <a:rPr lang="en-US" dirty="0"/>
              <a:t>Summarization for Question Answering: Multiple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03400"/>
            <a:ext cx="8458200" cy="4749800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</a:rPr>
              <a:t>Create</a:t>
            </a:r>
            <a:r>
              <a:rPr lang="en-US" sz="3200" b="1" dirty="0">
                <a:solidFill>
                  <a:srgbClr val="0000FF"/>
                </a:solidFill>
              </a:rPr>
              <a:t> answers</a:t>
            </a:r>
            <a:r>
              <a:rPr lang="en-US" sz="3200" b="1" dirty="0"/>
              <a:t> </a:t>
            </a:r>
            <a:r>
              <a:rPr lang="en-US" sz="3200" dirty="0"/>
              <a:t>to complex questions summarizing multiple documents.</a:t>
            </a:r>
          </a:p>
          <a:p>
            <a:pPr lvl="1"/>
            <a:r>
              <a:rPr lang="en-US" sz="2800" dirty="0"/>
              <a:t>Instead of giving a snippet for each document</a:t>
            </a:r>
          </a:p>
          <a:p>
            <a:pPr lvl="1"/>
            <a:r>
              <a:rPr lang="en-US" sz="2800" dirty="0"/>
              <a:t>Create a cohesive answer that combines information from each document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583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Extractive summarization &amp; </a:t>
            </a:r>
            <a:br>
              <a:rPr lang="en-US" dirty="0"/>
            </a:br>
            <a:r>
              <a:rPr lang="en-US" dirty="0"/>
              <a:t>Abstractive summarization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0000FF"/>
                </a:solidFill>
              </a:rPr>
              <a:t>Extractive summarization:</a:t>
            </a:r>
          </a:p>
          <a:p>
            <a:pPr lvl="1"/>
            <a:r>
              <a:rPr lang="en-US" sz="2400" dirty="0"/>
              <a:t>create the summary from phrases or sentences in the source document(s)</a:t>
            </a:r>
          </a:p>
          <a:p>
            <a:r>
              <a:rPr lang="en-US" sz="2800" dirty="0">
                <a:solidFill>
                  <a:srgbClr val="0000FF"/>
                </a:solidFill>
              </a:rPr>
              <a:t>Abstractive summarization:</a:t>
            </a:r>
          </a:p>
          <a:p>
            <a:pPr lvl="1"/>
            <a:r>
              <a:rPr lang="en-US" sz="2400" dirty="0"/>
              <a:t>express the ideas in the source documents using (at least in part) different words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922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76200"/>
            <a:ext cx="7391400" cy="990600"/>
          </a:xfrm>
        </p:spPr>
        <p:txBody>
          <a:bodyPr/>
          <a:lstStyle/>
          <a:p>
            <a:r>
              <a:rPr lang="en-US" dirty="0"/>
              <a:t>Simple baseline: take the first sentence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47390"/>
          <a:stretch/>
        </p:blipFill>
        <p:spPr>
          <a:xfrm>
            <a:off x="1524000" y="1600200"/>
            <a:ext cx="5943600" cy="19568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4216257"/>
            <a:ext cx="7391400" cy="267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015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ctrTitle"/>
          </p:nvPr>
        </p:nvSpPr>
        <p:spPr>
          <a:xfrm>
            <a:off x="4572000" y="584200"/>
            <a:ext cx="3890964" cy="1828800"/>
          </a:xfrm>
        </p:spPr>
        <p:txBody>
          <a:bodyPr/>
          <a:lstStyle/>
          <a:p>
            <a:r>
              <a:rPr lang="en-US" dirty="0">
                <a:latin typeface="Calibri (Headings)"/>
                <a:cs typeface="Calibri (Headings)"/>
              </a:rPr>
              <a:t>Question Answering</a:t>
            </a:r>
            <a:endParaRPr lang="en-US" dirty="0">
              <a:latin typeface="Lucida San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4343400" y="3505200"/>
            <a:ext cx="4495800" cy="2235200"/>
          </a:xfrm>
        </p:spPr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4000" dirty="0">
                <a:latin typeface="Calibri (Headings)"/>
                <a:ea typeface="ＭＳ Ｐゴシック" charset="0"/>
                <a:cs typeface="Calibri (Headings)"/>
              </a:rPr>
              <a:t>Summarization in Question Answering</a:t>
            </a:r>
          </a:p>
          <a:p>
            <a:pPr eaLnBrk="1" hangingPunct="1">
              <a:buFont typeface="Times" charset="0"/>
              <a:buNone/>
            </a:pPr>
            <a:endParaRPr lang="en-US" sz="4000" dirty="0">
              <a:latin typeface="Calibri (Headings)"/>
              <a:ea typeface="ＭＳ Ｐゴシック" charset="0"/>
              <a:cs typeface="Calibri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145119386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ctrTitle"/>
          </p:nvPr>
        </p:nvSpPr>
        <p:spPr>
          <a:xfrm>
            <a:off x="4572000" y="584200"/>
            <a:ext cx="3890964" cy="1828800"/>
          </a:xfrm>
        </p:spPr>
        <p:txBody>
          <a:bodyPr/>
          <a:lstStyle/>
          <a:p>
            <a:r>
              <a:rPr lang="en-US" dirty="0">
                <a:latin typeface="Calibri (Headings)"/>
                <a:cs typeface="Calibri (Headings)"/>
              </a:rPr>
              <a:t>Question Answering</a:t>
            </a:r>
            <a:endParaRPr lang="en-US" dirty="0">
              <a:latin typeface="Lucida San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3962400" y="3505200"/>
            <a:ext cx="5029200" cy="2743200"/>
          </a:xfrm>
        </p:spPr>
        <p:txBody>
          <a:bodyPr/>
          <a:lstStyle/>
          <a:p>
            <a:r>
              <a:rPr lang="en-US" sz="4000" dirty="0">
                <a:latin typeface="Calibri (Headings)"/>
                <a:ea typeface="ＭＳ Ｐゴシック" charset="0"/>
                <a:cs typeface="Calibri (Headings)"/>
              </a:rPr>
              <a:t>Generating Snippets and other Single-Document Answers</a:t>
            </a:r>
            <a:endParaRPr lang="en-US" sz="3200" dirty="0">
              <a:latin typeface="Calibri (Headings)"/>
              <a:ea typeface="ＭＳ Ｐゴシック" charset="0"/>
              <a:cs typeface="Calibri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386485771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Snippets: query-focused summaries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" name="Picture 4" descr="cast-metal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905000"/>
            <a:ext cx="601382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165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Summarization: Three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27200"/>
            <a:ext cx="8077200" cy="44450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rgbClr val="0000FF"/>
                </a:solidFill>
              </a:rPr>
              <a:t>content selection</a:t>
            </a:r>
            <a:r>
              <a:rPr lang="en-US" sz="2800" dirty="0"/>
              <a:t>: choose sentences to extract from the document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rgbClr val="0000FF"/>
                </a:solidFill>
              </a:rPr>
              <a:t>information ordering</a:t>
            </a:r>
            <a:r>
              <a:rPr lang="en-US" sz="2800" dirty="0"/>
              <a:t>: choose an order to place them in the summary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rgbClr val="0000FF"/>
                </a:solidFill>
              </a:rPr>
              <a:t>sentence realization</a:t>
            </a:r>
            <a:r>
              <a:rPr lang="en-US" sz="2800" dirty="0"/>
              <a:t>: clean up the sentences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6" name="Picture 5" descr="sdsumm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3" y="4660320"/>
            <a:ext cx="9144000" cy="158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581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Summarization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27200"/>
            <a:ext cx="8077200" cy="44450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rgbClr val="0000FF"/>
                </a:solidFill>
              </a:rPr>
              <a:t>content selection</a:t>
            </a:r>
            <a:r>
              <a:rPr lang="en-US" sz="2800" dirty="0"/>
              <a:t>: choose sentences to extract from the document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information ordering: just use document order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sentence realization: keep original sentences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6" name="Picture 5" descr="sdsumm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3" y="4660320"/>
            <a:ext cx="9144000" cy="158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640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76200"/>
            <a:ext cx="7391400" cy="990600"/>
          </a:xfrm>
        </p:spPr>
        <p:txBody>
          <a:bodyPr/>
          <a:lstStyle/>
          <a:p>
            <a:r>
              <a:rPr lang="en-US" dirty="0"/>
              <a:t>Unsupervised content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Intuition dating back to </a:t>
            </a:r>
            <a:r>
              <a:rPr lang="en-US" sz="2800" dirty="0" err="1"/>
              <a:t>Luhn</a:t>
            </a:r>
            <a:r>
              <a:rPr lang="en-US" sz="2800" dirty="0"/>
              <a:t> (1958):</a:t>
            </a:r>
          </a:p>
          <a:p>
            <a:pPr lvl="1"/>
            <a:r>
              <a:rPr lang="en-US" sz="2400" dirty="0"/>
              <a:t>Choose sentences that have </a:t>
            </a:r>
            <a:r>
              <a:rPr lang="en-US" sz="2400" dirty="0">
                <a:solidFill>
                  <a:srgbClr val="0000FF"/>
                </a:solidFill>
              </a:rPr>
              <a:t>salient</a:t>
            </a:r>
            <a:r>
              <a:rPr lang="en-US" sz="2400" dirty="0"/>
              <a:t> or </a:t>
            </a:r>
            <a:r>
              <a:rPr lang="en-US" sz="2400" dirty="0">
                <a:solidFill>
                  <a:srgbClr val="0000FF"/>
                </a:solidFill>
              </a:rPr>
              <a:t>informative</a:t>
            </a:r>
            <a:r>
              <a:rPr lang="en-US" sz="2400" dirty="0"/>
              <a:t> words</a:t>
            </a:r>
            <a:endParaRPr lang="en-US" sz="2800" dirty="0"/>
          </a:p>
          <a:p>
            <a:r>
              <a:rPr lang="en-US" sz="2800" dirty="0"/>
              <a:t>Two approaches to defining salient words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 err="1">
                <a:solidFill>
                  <a:srgbClr val="0000FF"/>
                </a:solidFill>
              </a:rPr>
              <a:t>tf-idf</a:t>
            </a:r>
            <a:r>
              <a:rPr lang="en-US" sz="2400" dirty="0">
                <a:solidFill>
                  <a:srgbClr val="0000FF"/>
                </a:solidFill>
              </a:rPr>
              <a:t>: </a:t>
            </a:r>
            <a:r>
              <a:rPr lang="en-US" sz="2400" dirty="0"/>
              <a:t>weigh each word </a:t>
            </a:r>
            <a:r>
              <a:rPr lang="en-US" sz="2400" dirty="0" err="1">
                <a:latin typeface="Times New Roman"/>
                <a:cs typeface="Times New Roman"/>
              </a:rPr>
              <a:t>w</a:t>
            </a:r>
            <a:r>
              <a:rPr lang="en-US" sz="2400" baseline="-25000" dirty="0" err="1">
                <a:latin typeface="Times New Roman"/>
                <a:cs typeface="Times New Roman"/>
              </a:rPr>
              <a:t>i</a:t>
            </a:r>
            <a:r>
              <a:rPr lang="en-US" sz="2400" dirty="0"/>
              <a:t> in document </a:t>
            </a:r>
            <a:r>
              <a:rPr lang="en-US" sz="2400" i="1" dirty="0">
                <a:latin typeface="Times New Roman"/>
                <a:cs typeface="Times New Roman"/>
              </a:rPr>
              <a:t>j</a:t>
            </a:r>
            <a:r>
              <a:rPr lang="en-US" sz="2400" dirty="0"/>
              <a:t> by </a:t>
            </a:r>
            <a:r>
              <a:rPr lang="en-US" sz="2400" dirty="0" err="1"/>
              <a:t>tf-idf</a:t>
            </a:r>
            <a:endParaRPr lang="en-US" sz="2400" dirty="0"/>
          </a:p>
          <a:p>
            <a:pPr lvl="2"/>
            <a:endParaRPr lang="en-US" sz="2400" dirty="0">
              <a:solidFill>
                <a:srgbClr val="0000FF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solidFill>
                  <a:srgbClr val="0000FF"/>
                </a:solidFill>
              </a:rPr>
              <a:t>topic signature</a:t>
            </a:r>
            <a:r>
              <a:rPr lang="en-US" sz="2400" dirty="0"/>
              <a:t>: choose a smaller set of salient words</a:t>
            </a:r>
          </a:p>
          <a:p>
            <a:pPr lvl="2"/>
            <a:r>
              <a:rPr lang="en-US" sz="2400" dirty="0"/>
              <a:t>mutual information</a:t>
            </a:r>
          </a:p>
          <a:p>
            <a:pPr lvl="2"/>
            <a:r>
              <a:rPr lang="en-US" sz="2400" dirty="0"/>
              <a:t>log-likelihood ratio (LLR)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  Dunning (1993), Lin and </a:t>
            </a:r>
            <a:r>
              <a:rPr lang="en-US" sz="1800" dirty="0" err="1">
                <a:solidFill>
                  <a:schemeClr val="bg1">
                    <a:lumMod val="50000"/>
                  </a:schemeClr>
                </a:solidFill>
              </a:rPr>
              <a:t>Hovy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 (2000)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971641"/>
              </p:ext>
            </p:extLst>
          </p:nvPr>
        </p:nvGraphicFramePr>
        <p:xfrm>
          <a:off x="2237317" y="3733800"/>
          <a:ext cx="2944283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3" name="Equation" r:id="rId3" imgW="1358900" imgH="228600" progId="Equation.3">
                  <p:embed/>
                </p:oleObj>
              </mc:Choice>
              <mc:Fallback>
                <p:oleObj name="Equation" r:id="rId3" imgW="1358900" imgH="228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37317" y="3733800"/>
                        <a:ext cx="2944283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6386584"/>
              </p:ext>
            </p:extLst>
          </p:nvPr>
        </p:nvGraphicFramePr>
        <p:xfrm>
          <a:off x="2286000" y="5638800"/>
          <a:ext cx="4724400" cy="1028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4" name="Equation" r:id="rId5" imgW="2451100" imgH="533400" progId="Equation.3">
                  <p:embed/>
                </p:oleObj>
              </mc:Choice>
              <mc:Fallback>
                <p:oleObj name="Equation" r:id="rId5" imgW="2451100" imgH="5334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86000" y="5638800"/>
                        <a:ext cx="4724400" cy="10282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0" y="1143000"/>
            <a:ext cx="558488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H. P. 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Luhn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. 1958. The Automatic Creation of Literature Abstracts.</a:t>
            </a:r>
          </a:p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IBM Journal of Research and Development. 2:2, 159-165. </a:t>
            </a:r>
          </a:p>
        </p:txBody>
      </p:sp>
    </p:spTree>
    <p:extLst>
      <p:ext uri="{BB962C8B-B14F-4D97-AF65-F5344CB8AC3E}">
        <p14:creationId xmlns:p14="http://schemas.microsoft.com/office/powerpoint/2010/main" val="2031627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 signature-based content selection with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803400"/>
            <a:ext cx="8686800" cy="4445000"/>
          </a:xfrm>
        </p:spPr>
        <p:txBody>
          <a:bodyPr/>
          <a:lstStyle/>
          <a:p>
            <a:r>
              <a:rPr lang="en-US" sz="2800" dirty="0"/>
              <a:t>choose words that are informative either </a:t>
            </a:r>
          </a:p>
          <a:p>
            <a:pPr lvl="1"/>
            <a:r>
              <a:rPr lang="en-US" sz="2400" dirty="0"/>
              <a:t>by log-likelihood ratio (LLR)</a:t>
            </a:r>
          </a:p>
          <a:p>
            <a:pPr lvl="1"/>
            <a:r>
              <a:rPr lang="en-US" sz="2400" dirty="0"/>
              <a:t>or by appearing in the query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r>
              <a:rPr lang="en-US" sz="2800" dirty="0"/>
              <a:t>Weigh a sentence (or window) by weight of its words: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648200" y="1143000"/>
            <a:ext cx="3781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+mn-lt"/>
              </a:rPr>
              <a:t>Conroy, Schlesinger, and O’Leary 2006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4345418"/>
              </p:ext>
            </p:extLst>
          </p:nvPr>
        </p:nvGraphicFramePr>
        <p:xfrm>
          <a:off x="1676400" y="3352800"/>
          <a:ext cx="4724400" cy="156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3" name="Equation" r:id="rId3" imgW="2451100" imgH="812800" progId="Equation.3">
                  <p:embed/>
                </p:oleObj>
              </mc:Choice>
              <mc:Fallback>
                <p:oleObj name="Equation" r:id="rId3" imgW="2451100" imgH="8128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76400" y="3352800"/>
                        <a:ext cx="4724400" cy="1566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1917590"/>
              </p:ext>
            </p:extLst>
          </p:nvPr>
        </p:nvGraphicFramePr>
        <p:xfrm>
          <a:off x="1905000" y="5715000"/>
          <a:ext cx="3397250" cy="8614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4" name="Equation" r:id="rId5" imgW="1752600" imgH="444500" progId="Equation.3">
                  <p:embed/>
                </p:oleObj>
              </mc:Choice>
              <mc:Fallback>
                <p:oleObj name="Equation" r:id="rId5" imgW="1752600" imgH="4445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05000" y="5715000"/>
                        <a:ext cx="3397250" cy="8614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140937" y="3733800"/>
            <a:ext cx="20030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+mn-lt"/>
              </a:rPr>
              <a:t>(could learn more complex weights)</a:t>
            </a:r>
          </a:p>
        </p:txBody>
      </p:sp>
    </p:spTree>
    <p:extLst>
      <p:ext uri="{BB962C8B-B14F-4D97-AF65-F5344CB8AC3E}">
        <p14:creationId xmlns:p14="http://schemas.microsoft.com/office/powerpoint/2010/main" val="13252045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152400"/>
            <a:ext cx="7391400" cy="990600"/>
          </a:xfrm>
        </p:spPr>
        <p:txBody>
          <a:bodyPr/>
          <a:lstStyle/>
          <a:p>
            <a:r>
              <a:rPr lang="en-US" dirty="0"/>
              <a:t>Supervised content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752600"/>
            <a:ext cx="4572000" cy="4445000"/>
          </a:xfrm>
        </p:spPr>
        <p:txBody>
          <a:bodyPr/>
          <a:lstStyle/>
          <a:p>
            <a:r>
              <a:rPr lang="en-US" dirty="0"/>
              <a:t>Given: </a:t>
            </a:r>
          </a:p>
          <a:p>
            <a:pPr lvl="1"/>
            <a:r>
              <a:rPr lang="en-US" dirty="0"/>
              <a:t>a labeled training set of good summaries for each document</a:t>
            </a:r>
          </a:p>
          <a:p>
            <a:r>
              <a:rPr lang="en-US" dirty="0"/>
              <a:t>Align:</a:t>
            </a:r>
          </a:p>
          <a:p>
            <a:pPr lvl="1"/>
            <a:r>
              <a:rPr lang="en-US" dirty="0"/>
              <a:t>the sentences in the document with sentences in the summary</a:t>
            </a:r>
          </a:p>
          <a:p>
            <a:r>
              <a:rPr lang="en-US" dirty="0"/>
              <a:t>Extract features</a:t>
            </a:r>
          </a:p>
          <a:p>
            <a:pPr lvl="1"/>
            <a:r>
              <a:rPr lang="en-US" dirty="0"/>
              <a:t>position (first sentence?) </a:t>
            </a:r>
          </a:p>
          <a:p>
            <a:pPr lvl="1"/>
            <a:r>
              <a:rPr lang="en-US" dirty="0"/>
              <a:t>length of sentence</a:t>
            </a:r>
          </a:p>
          <a:p>
            <a:pPr lvl="1"/>
            <a:r>
              <a:rPr lang="en-US" dirty="0"/>
              <a:t>word </a:t>
            </a:r>
            <a:r>
              <a:rPr lang="en-US" dirty="0" err="1"/>
              <a:t>informativeness</a:t>
            </a:r>
            <a:r>
              <a:rPr lang="en-US" dirty="0"/>
              <a:t>, cue phrases</a:t>
            </a:r>
          </a:p>
          <a:p>
            <a:pPr lvl="1"/>
            <a:r>
              <a:rPr lang="en-US" dirty="0"/>
              <a:t>cohesion</a:t>
            </a:r>
          </a:p>
          <a:p>
            <a:r>
              <a:rPr lang="en-US" dirty="0"/>
              <a:t>Train</a:t>
            </a:r>
          </a:p>
          <a:p>
            <a:pPr lvl="1"/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953000" y="1752600"/>
            <a:ext cx="4114800" cy="444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r>
              <a:rPr lang="en-US" dirty="0"/>
              <a:t>Problems:</a:t>
            </a:r>
          </a:p>
          <a:p>
            <a:pPr lvl="1"/>
            <a:r>
              <a:rPr lang="en-US" dirty="0"/>
              <a:t>hard to get labeled training data</a:t>
            </a:r>
          </a:p>
          <a:p>
            <a:pPr lvl="1"/>
            <a:r>
              <a:rPr lang="en-US" dirty="0"/>
              <a:t>alignment difficult</a:t>
            </a:r>
          </a:p>
          <a:p>
            <a:pPr lvl="1"/>
            <a:r>
              <a:rPr lang="en-US" dirty="0"/>
              <a:t>performance not better than unsupervised algorithms</a:t>
            </a:r>
          </a:p>
          <a:p>
            <a:r>
              <a:rPr lang="en-US" dirty="0"/>
              <a:t>So in practice: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Unsupervised content selection is more common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6248400"/>
            <a:ext cx="664708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00100" lvl="2" indent="-342900">
              <a:buFont typeface="Arial"/>
              <a:buChar char="•"/>
            </a:pPr>
            <a:r>
              <a:rPr lang="en-US" sz="2000" dirty="0">
                <a:latin typeface="Calibri"/>
                <a:cs typeface="Calibri"/>
              </a:rPr>
              <a:t>a binary classifier (put sentence in summary? yes or no)</a:t>
            </a:r>
          </a:p>
          <a:p>
            <a:endParaRPr 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11857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ctrTitle"/>
          </p:nvPr>
        </p:nvSpPr>
        <p:spPr>
          <a:xfrm>
            <a:off x="4572000" y="584200"/>
            <a:ext cx="3890964" cy="1828800"/>
          </a:xfrm>
        </p:spPr>
        <p:txBody>
          <a:bodyPr/>
          <a:lstStyle/>
          <a:p>
            <a:r>
              <a:rPr lang="en-US" dirty="0">
                <a:latin typeface="Calibri (Headings)"/>
                <a:cs typeface="Calibri (Headings)"/>
              </a:rPr>
              <a:t>Question Answering</a:t>
            </a:r>
            <a:endParaRPr lang="en-US" dirty="0">
              <a:latin typeface="Lucida San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3962400" y="3505200"/>
            <a:ext cx="5029200" cy="2743200"/>
          </a:xfrm>
        </p:spPr>
        <p:txBody>
          <a:bodyPr/>
          <a:lstStyle/>
          <a:p>
            <a:r>
              <a:rPr lang="en-US" sz="4000" dirty="0">
                <a:latin typeface="Calibri (Headings)"/>
                <a:ea typeface="ＭＳ Ｐゴシック" charset="0"/>
                <a:cs typeface="Calibri (Headings)"/>
              </a:rPr>
              <a:t>Generating Snippets and other Single-Document Answers</a:t>
            </a:r>
            <a:endParaRPr lang="en-US" sz="3200" dirty="0">
              <a:latin typeface="Calibri (Headings)"/>
              <a:ea typeface="ＭＳ Ｐゴシック" charset="0"/>
              <a:cs typeface="Calibri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2684648040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ctrTitle"/>
          </p:nvPr>
        </p:nvSpPr>
        <p:spPr>
          <a:xfrm>
            <a:off x="3962400" y="177800"/>
            <a:ext cx="4800600" cy="1828800"/>
          </a:xfrm>
        </p:spPr>
        <p:txBody>
          <a:bodyPr/>
          <a:lstStyle/>
          <a:p>
            <a:r>
              <a:rPr lang="en-US" sz="4000" dirty="0">
                <a:latin typeface="Calibri (Headings)"/>
                <a:cs typeface="Calibri (Headings)"/>
              </a:rPr>
              <a:t>Question Answering</a:t>
            </a:r>
            <a:endParaRPr lang="en-US" sz="40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4191000" y="2413000"/>
            <a:ext cx="4572000" cy="1609344"/>
          </a:xfrm>
        </p:spPr>
        <p:txBody>
          <a:bodyPr/>
          <a:lstStyle/>
          <a:p>
            <a:r>
              <a:rPr lang="en-US" sz="3600" dirty="0">
                <a:solidFill>
                  <a:srgbClr val="A4001D"/>
                </a:solidFill>
                <a:ea typeface="ＭＳ Ｐゴシック" charset="0"/>
                <a:cs typeface="Calibri"/>
              </a:rPr>
              <a:t>Evaluating Summaries: ROUGE</a:t>
            </a:r>
          </a:p>
        </p:txBody>
      </p:sp>
    </p:spTree>
    <p:extLst>
      <p:ext uri="{BB962C8B-B14F-4D97-AF65-F5344CB8AC3E}">
        <p14:creationId xmlns:p14="http://schemas.microsoft.com/office/powerpoint/2010/main" val="358473838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ROUGE (Recall Oriented Understudy for </a:t>
            </a:r>
            <a:r>
              <a:rPr lang="en-US" dirty="0" err="1"/>
              <a:t>Gisting</a:t>
            </a:r>
            <a:r>
              <a:rPr lang="en-US" dirty="0"/>
              <a:t> Evaluation)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Intrinsic metric for automatically evaluating summaries</a:t>
            </a:r>
          </a:p>
          <a:p>
            <a:pPr lvl="1"/>
            <a:r>
              <a:rPr lang="en-US" dirty="0"/>
              <a:t>Based on BLEU (a metric used for machine translation)</a:t>
            </a:r>
          </a:p>
          <a:p>
            <a:pPr lvl="1"/>
            <a:r>
              <a:rPr lang="en-US" dirty="0"/>
              <a:t>Not as good as human evaluation (“Did this answer the user’s question?”)</a:t>
            </a:r>
          </a:p>
          <a:p>
            <a:pPr lvl="1"/>
            <a:r>
              <a:rPr lang="en-US" dirty="0"/>
              <a:t>But much more convenient</a:t>
            </a:r>
          </a:p>
          <a:p>
            <a:r>
              <a:rPr lang="en-US" dirty="0"/>
              <a:t>Given a document D, and an automatic summary X: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Have N humans produce a set of reference summaries  of 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Run system, giving automatic summary X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What percentage of the bigrams from the reference summaries appear in X?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562600" y="1066800"/>
            <a:ext cx="2288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Lin and </a:t>
            </a:r>
            <a:r>
              <a:rPr lang="en-US" sz="1800" dirty="0" err="1"/>
              <a:t>Hovy</a:t>
            </a:r>
            <a:r>
              <a:rPr lang="en-US" sz="1800" dirty="0"/>
              <a:t> 2003</a:t>
            </a:r>
            <a:endParaRPr lang="en-US" sz="1800" dirty="0">
              <a:latin typeface="+mn-lt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3872371"/>
              </p:ext>
            </p:extLst>
          </p:nvPr>
        </p:nvGraphicFramePr>
        <p:xfrm>
          <a:off x="990600" y="5410200"/>
          <a:ext cx="7160217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6" name="Equation" r:id="rId3" imgW="3911600" imgH="749300" progId="Equation.3">
                  <p:embed/>
                </p:oleObj>
              </mc:Choice>
              <mc:Fallback>
                <p:oleObj name="Equation" r:id="rId3" imgW="3911600" imgH="7493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90600" y="5410200"/>
                        <a:ext cx="7160217" cy="137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149722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ROUGE example:</a:t>
            </a:r>
            <a:br>
              <a:rPr lang="en-US" dirty="0"/>
            </a:br>
            <a:r>
              <a:rPr lang="en-US" dirty="0"/>
              <a:t>Q: “What is water spinach?”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803400"/>
            <a:ext cx="8839200" cy="39878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Human 1: Water spinach is a green leafy vegetable grown in the tropics.</a:t>
            </a:r>
          </a:p>
          <a:p>
            <a:pPr marL="0" indent="0">
              <a:buNone/>
            </a:pPr>
            <a:r>
              <a:rPr lang="en-US" dirty="0"/>
              <a:t>Human 2:  Water spinach is a semi-aquatic tropical plant grown as a vegetable.</a:t>
            </a:r>
          </a:p>
          <a:p>
            <a:pPr marL="0" indent="0">
              <a:buNone/>
            </a:pPr>
            <a:r>
              <a:rPr lang="en-US" dirty="0"/>
              <a:t>Human 3: Water spinach is a commonly eaten leaf vegetable of Asia.</a:t>
            </a:r>
          </a:p>
          <a:p>
            <a:endParaRPr lang="en-US" dirty="0"/>
          </a:p>
          <a:p>
            <a:r>
              <a:rPr lang="en-US" dirty="0"/>
              <a:t>System answer: Water spinach is a leaf vegetable commonly eaten in tropical areas of Asia.</a:t>
            </a:r>
          </a:p>
          <a:p>
            <a:endParaRPr lang="en-US" dirty="0"/>
          </a:p>
          <a:p>
            <a:r>
              <a:rPr lang="en-US" dirty="0"/>
              <a:t>ROUGE-2  =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859314" y="6106180"/>
            <a:ext cx="15950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n-lt"/>
              </a:rPr>
              <a:t>10 + 9 + 9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5699781"/>
            <a:ext cx="1413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n-lt"/>
              </a:rPr>
              <a:t>3 + 3 + 6</a:t>
            </a:r>
          </a:p>
        </p:txBody>
      </p:sp>
      <p:cxnSp>
        <p:nvCxnSpPr>
          <p:cNvPr id="8" name="Straight Connector 7"/>
          <p:cNvCxnSpPr/>
          <p:nvPr/>
        </p:nvCxnSpPr>
        <p:spPr bwMode="auto">
          <a:xfrm>
            <a:off x="2895600" y="6156981"/>
            <a:ext cx="1524000" cy="0"/>
          </a:xfrm>
          <a:prstGeom prst="line">
            <a:avLst/>
          </a:prstGeom>
          <a:gradFill rotWithShape="0">
            <a:gsLst>
              <a:gs pos="0">
                <a:srgbClr val="A50021"/>
              </a:gs>
              <a:gs pos="100000">
                <a:schemeClr val="tx1"/>
              </a:gs>
            </a:gsLst>
            <a:lin ang="0" scaled="1"/>
          </a:gra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4724400" y="5928381"/>
            <a:ext cx="21071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n-lt"/>
              </a:rPr>
              <a:t>= 12/28 = .43 </a:t>
            </a:r>
          </a:p>
        </p:txBody>
      </p:sp>
      <p:sp>
        <p:nvSpPr>
          <p:cNvPr id="12" name="Rectangle 11"/>
          <p:cNvSpPr/>
          <p:nvPr/>
        </p:nvSpPr>
        <p:spPr bwMode="auto">
          <a:xfrm>
            <a:off x="1676400" y="1905000"/>
            <a:ext cx="1828800" cy="381000"/>
          </a:xfrm>
          <a:prstGeom prst="rect">
            <a:avLst/>
          </a:prstGeom>
          <a:solidFill>
            <a:srgbClr val="FFFF00">
              <a:alpha val="39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1600200" y="2743200"/>
            <a:ext cx="1828800" cy="381000"/>
          </a:xfrm>
          <a:prstGeom prst="rect">
            <a:avLst/>
          </a:prstGeom>
          <a:solidFill>
            <a:srgbClr val="FFFF00">
              <a:alpha val="39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2514600" y="1905000"/>
            <a:ext cx="1295400" cy="304800"/>
          </a:xfrm>
          <a:prstGeom prst="rect">
            <a:avLst/>
          </a:prstGeom>
          <a:solidFill>
            <a:srgbClr val="FFFF00">
              <a:alpha val="39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2667000" y="2743200"/>
            <a:ext cx="1143000" cy="304800"/>
          </a:xfrm>
          <a:prstGeom prst="rect">
            <a:avLst/>
          </a:prstGeom>
          <a:solidFill>
            <a:srgbClr val="FFFF00">
              <a:alpha val="39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3657600" y="2667000"/>
            <a:ext cx="381000" cy="381000"/>
          </a:xfrm>
          <a:prstGeom prst="rect">
            <a:avLst/>
          </a:prstGeom>
          <a:solidFill>
            <a:srgbClr val="FFFF00">
              <a:alpha val="39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3581400" y="1905000"/>
            <a:ext cx="381000" cy="381000"/>
          </a:xfrm>
          <a:prstGeom prst="rect">
            <a:avLst/>
          </a:prstGeom>
          <a:solidFill>
            <a:srgbClr val="FFFF00">
              <a:alpha val="39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1752600" y="3505200"/>
            <a:ext cx="1828800" cy="381000"/>
          </a:xfrm>
          <a:prstGeom prst="rect">
            <a:avLst/>
          </a:prstGeom>
          <a:solidFill>
            <a:srgbClr val="FFFF00">
              <a:alpha val="39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2819400" y="3505200"/>
            <a:ext cx="1143000" cy="304800"/>
          </a:xfrm>
          <a:prstGeom prst="rect">
            <a:avLst/>
          </a:prstGeom>
          <a:solidFill>
            <a:srgbClr val="FFFF00">
              <a:alpha val="39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3581400" y="3505200"/>
            <a:ext cx="381000" cy="381000"/>
          </a:xfrm>
          <a:prstGeom prst="rect">
            <a:avLst/>
          </a:prstGeom>
          <a:solidFill>
            <a:srgbClr val="FFFF00">
              <a:alpha val="39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4038600" y="3429000"/>
            <a:ext cx="2057400" cy="381000"/>
          </a:xfrm>
          <a:prstGeom prst="rect">
            <a:avLst/>
          </a:prstGeom>
          <a:solidFill>
            <a:srgbClr val="FFFF00">
              <a:alpha val="39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6172200" y="3429000"/>
            <a:ext cx="1752600" cy="381000"/>
          </a:xfrm>
          <a:prstGeom prst="rect">
            <a:avLst/>
          </a:prstGeom>
          <a:solidFill>
            <a:srgbClr val="FFFF00">
              <a:alpha val="39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7772400" y="3505200"/>
            <a:ext cx="1143000" cy="304800"/>
          </a:xfrm>
          <a:prstGeom prst="rect">
            <a:avLst/>
          </a:prstGeom>
          <a:solidFill>
            <a:srgbClr val="FFFF00">
              <a:alpha val="39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92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1" grpId="0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ctrTitle"/>
          </p:nvPr>
        </p:nvSpPr>
        <p:spPr>
          <a:xfrm>
            <a:off x="3962400" y="177800"/>
            <a:ext cx="4800600" cy="1828800"/>
          </a:xfrm>
        </p:spPr>
        <p:txBody>
          <a:bodyPr/>
          <a:lstStyle/>
          <a:p>
            <a:r>
              <a:rPr lang="en-US" sz="4000" dirty="0">
                <a:latin typeface="Calibri (Headings)"/>
                <a:cs typeface="Calibri (Headings)"/>
              </a:rPr>
              <a:t>Question Answering</a:t>
            </a:r>
            <a:endParaRPr lang="en-US" sz="40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4191000" y="2413000"/>
            <a:ext cx="4572000" cy="1609344"/>
          </a:xfrm>
        </p:spPr>
        <p:txBody>
          <a:bodyPr/>
          <a:lstStyle/>
          <a:p>
            <a:r>
              <a:rPr lang="en-US" sz="3600" dirty="0">
                <a:solidFill>
                  <a:srgbClr val="A4001D"/>
                </a:solidFill>
                <a:ea typeface="ＭＳ Ｐゴシック" charset="0"/>
                <a:cs typeface="Calibri"/>
              </a:rPr>
              <a:t>Evaluating Summaries: ROUGE</a:t>
            </a:r>
          </a:p>
        </p:txBody>
      </p:sp>
    </p:spTree>
    <p:extLst>
      <p:ext uri="{BB962C8B-B14F-4D97-AF65-F5344CB8AC3E}">
        <p14:creationId xmlns:p14="http://schemas.microsoft.com/office/powerpoint/2010/main" val="8096056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NLP3x4-jurafsky">
  <a:themeElements>
    <a:clrScheme name="NLP Class">
      <a:dk1>
        <a:sysClr val="windowText" lastClr="000000"/>
      </a:dk1>
      <a:lt1>
        <a:sysClr val="window" lastClr="FFFFFF"/>
      </a:lt1>
      <a:dk2>
        <a:srgbClr val="605435"/>
      </a:dk2>
      <a:lt2>
        <a:srgbClr val="E7D19A"/>
      </a:lt2>
      <a:accent1>
        <a:srgbClr val="A4001D"/>
      </a:accent1>
      <a:accent2>
        <a:srgbClr val="2584BB"/>
      </a:accent2>
      <a:accent3>
        <a:srgbClr val="BB57BE"/>
      </a:accent3>
      <a:accent4>
        <a:srgbClr val="177245"/>
      </a:accent4>
      <a:accent5>
        <a:srgbClr val="35ACA2"/>
      </a:accent5>
      <a:accent6>
        <a:srgbClr val="FF8700"/>
      </a:accent6>
      <a:hlink>
        <a:srgbClr val="EF8E1C"/>
      </a:hlink>
      <a:folHlink>
        <a:srgbClr val="FEC60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>
            <a:lumMod val="40000"/>
            <a:lumOff val="60000"/>
          </a:schemeClr>
        </a:solidFill>
        <a:ln w="9525" cap="flat" cmpd="sng" algn="ctr">
          <a:noFill/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Lucida Sans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A50021"/>
            </a:gs>
            <a:gs pos="100000">
              <a:schemeClr val="tx1"/>
            </a:gs>
          </a:gsLst>
          <a:lin ang="0" scaled="1"/>
        </a:gra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Lucida Sans" pitchFamily="-65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1800" dirty="0">
            <a:latin typeface="+mn-lt"/>
          </a:defRPr>
        </a:defPPr>
      </a:lstStyle>
    </a:txDef>
  </a:objectDefaults>
  <a:extraClrSchemeLst>
    <a:extraClrScheme>
      <a:clrScheme name="nlp-lucida-schem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lp-lucida-scheme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lp-lucida-schem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NLP3x4-jurafsky.potx</Template>
  <TotalTime>8962</TotalTime>
  <Words>806</Words>
  <Application>Microsoft Macintosh PowerPoint</Application>
  <PresentationFormat>On-screen Show (4:3)</PresentationFormat>
  <Paragraphs>143</Paragraphs>
  <Slides>21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Calibri</vt:lpstr>
      <vt:lpstr>Calibri (Headings)</vt:lpstr>
      <vt:lpstr>Lucida Sans</vt:lpstr>
      <vt:lpstr>Tahoma</vt:lpstr>
      <vt:lpstr>Times</vt:lpstr>
      <vt:lpstr>Times New Roman</vt:lpstr>
      <vt:lpstr>NLP3x4-jurafsky</vt:lpstr>
      <vt:lpstr>Equation</vt:lpstr>
      <vt:lpstr>Question Answering</vt:lpstr>
      <vt:lpstr>Text Summarization</vt:lpstr>
      <vt:lpstr>What to summarize?  Single vs. multiple documents</vt:lpstr>
      <vt:lpstr>Query-focused Summarization &amp;  Generic Summarization</vt:lpstr>
      <vt:lpstr>Summarization for Question Answering: Snippets</vt:lpstr>
      <vt:lpstr>Summarization for Question Answering: Multiple documents</vt:lpstr>
      <vt:lpstr>Extractive summarization &amp;  Abstractive summarization</vt:lpstr>
      <vt:lpstr>Simple baseline: take the first sentence</vt:lpstr>
      <vt:lpstr>Question Answering</vt:lpstr>
      <vt:lpstr>Question Answering</vt:lpstr>
      <vt:lpstr>Snippets: query-focused summaries</vt:lpstr>
      <vt:lpstr>Summarization: Three Stages</vt:lpstr>
      <vt:lpstr>Basic Summarization Algorithm</vt:lpstr>
      <vt:lpstr>Unsupervised content selection</vt:lpstr>
      <vt:lpstr>Topic signature-based content selection with queries</vt:lpstr>
      <vt:lpstr>Supervised content selection</vt:lpstr>
      <vt:lpstr>Question Answering</vt:lpstr>
      <vt:lpstr>Question Answering</vt:lpstr>
      <vt:lpstr>ROUGE (Recall Oriented Understudy for Gisting Evaluation) </vt:lpstr>
      <vt:lpstr>A ROUGE example: Q: “What is water spinach?”</vt:lpstr>
      <vt:lpstr>Question Answering</vt:lpstr>
    </vt:vector>
  </TitlesOfParts>
  <Company>Stanford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Extraction</dc:title>
  <dc:creator>Christopher Manning</dc:creator>
  <cp:lastModifiedBy>Shah, Sayed</cp:lastModifiedBy>
  <cp:revision>174</cp:revision>
  <cp:lastPrinted>2009-04-20T16:46:08Z</cp:lastPrinted>
  <dcterms:created xsi:type="dcterms:W3CDTF">2010-04-19T15:31:24Z</dcterms:created>
  <dcterms:modified xsi:type="dcterms:W3CDTF">2021-11-18T21:11:31Z</dcterms:modified>
</cp:coreProperties>
</file>